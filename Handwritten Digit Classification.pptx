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c4cab7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c4cab7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2972a3a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9a2972a3a9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a2972a3a9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a2972a3a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a2972a3a9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9a2972a3a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jpg"/><Relationship Id="rId4" Type="http://schemas.openxmlformats.org/officeDocument/2006/relationships/hyperlink" Target="mailto:maruthisaisasank_thunuguntla@srmap.edu.in" TargetMode="External"/><Relationship Id="rId5" Type="http://schemas.openxmlformats.org/officeDocument/2006/relationships/hyperlink" Target="https://github.com/t-sasank/Hand-Written-Digit-Classifi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center part of the image also only the background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8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7500" y="-3875"/>
            <a:ext cx="5714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09325" y="937125"/>
            <a:ext cx="5430900" cy="3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8FA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Handwritten</a:t>
            </a:r>
            <a:endParaRPr b="1" sz="5000">
              <a:solidFill>
                <a:srgbClr val="F8FAF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8FA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 </a:t>
            </a:r>
            <a:endParaRPr b="1" sz="5000">
              <a:solidFill>
                <a:srgbClr val="F8FAF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2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rgbClr val="F8FA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sz="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06800" y="4962475"/>
            <a:ext cx="40707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Presented by: 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 Maruthi Sai Sasank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SRM University - AP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477500" y="6439675"/>
            <a:ext cx="3000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60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9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Course: Information Retrieval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9725" y="1829562"/>
            <a:ext cx="5536376" cy="440923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690812" y="6976913"/>
            <a:ext cx="681037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Transforming raw pixel data into actionable intelligence using Information Retrieval techniques.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16725" y="1349375"/>
            <a:ext cx="5973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F1F5F9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The Need for Automation</a:t>
            </a:r>
            <a:endParaRPr b="1" sz="2200">
              <a:solidFill>
                <a:srgbClr val="F1F5F9"/>
              </a:solidFill>
              <a:highlight>
                <a:srgbClr val="1E293B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94A3B8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Handwritten digit recognition is a cornerstone of modern automation, critical for:</a:t>
            </a:r>
            <a:endParaRPr sz="2200">
              <a:solidFill>
                <a:srgbClr val="94A3B8"/>
              </a:solidFill>
              <a:highlight>
                <a:srgbClr val="1E293B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94A3B8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Bank cheque processing</a:t>
            </a:r>
            <a:endParaRPr sz="2200">
              <a:solidFill>
                <a:srgbClr val="94A3B8"/>
              </a:solidFill>
              <a:highlight>
                <a:srgbClr val="1E293B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94A3B8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Postal mail sorting (ZIP codes)</a:t>
            </a:r>
            <a:endParaRPr sz="2200">
              <a:solidFill>
                <a:srgbClr val="94A3B8"/>
              </a:solidFill>
              <a:highlight>
                <a:srgbClr val="1E293B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rgbClr val="94A3B8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Digitizing historical documents</a:t>
            </a:r>
            <a:endParaRPr sz="2200">
              <a:solidFill>
                <a:srgbClr val="94A3B8"/>
              </a:solidFill>
              <a:highlight>
                <a:srgbClr val="1E293B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16725" y="4837700"/>
            <a:ext cx="5794500" cy="19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F1F5F9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1" sz="2200">
              <a:solidFill>
                <a:srgbClr val="F1F5F9"/>
              </a:solidFill>
              <a:highlight>
                <a:srgbClr val="1E293B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94A3B8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Manual recognition is slow, expensive, and error-prone at scale. Variations in handwriting styles make rule-based programming impossible.</a:t>
            </a:r>
            <a:endParaRPr sz="2200">
              <a:solidFill>
                <a:srgbClr val="94A3B8"/>
              </a:solidFill>
              <a:highlight>
                <a:srgbClr val="1E293B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548513" y="2232700"/>
            <a:ext cx="5218800" cy="3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b="1" sz="2200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 build a digit recognition framework that:</a:t>
            </a:r>
            <a:endParaRPr sz="2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Accurately predicts digits (0–9) from images.</a:t>
            </a:r>
            <a:endParaRPr sz="2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Combines ML &amp; DL techniques.</a:t>
            </a:r>
            <a:endParaRPr sz="2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Deploys the trained model as an interactive web application.</a:t>
            </a:r>
            <a:endParaRPr sz="2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Maintains &gt;99% accuracy.</a:t>
            </a:r>
            <a:endParaRPr sz="2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050" y="1981336"/>
            <a:ext cx="10563900" cy="4131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71525" y="602323"/>
            <a:ext cx="113814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Objectives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92675" y="2470576"/>
            <a:ext cx="9754500" cy="3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AutoNum type="arabicPeriod"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Handle raw MNIST data, normalize </a:t>
            </a: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pixel values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and reshape for specific model requirements.</a:t>
            </a:r>
            <a:endParaRPr b="0" i="0" sz="18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 Medium"/>
              <a:buAutoNum type="arabicPeriod"/>
            </a:pPr>
            <a:r>
              <a:rPr lang="en-US" sz="18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Develop a robust digit recognition model using ML and Deep Learning techniques.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AutoNum type="arabicPeriod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 LeNet-5 architecture to maximize accuracy for image-based classification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AutoNum type="arabicPeriod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Evaluate performance across Classical ML (SVM, KNN,Random Forest,Logistic Reg.) and Deep Learning (CNN) architectures.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AutoNum type="arabicPeriod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 a Flask-based web interface allowing users to upload or draw digits for real-time prediction.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771525" y="581025"/>
            <a:ext cx="113814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System Architecture &amp; Tech Stack</a:t>
            </a:r>
            <a:endParaRPr/>
          </a:p>
        </p:txBody>
      </p:sp>
      <p:pic>
        <p:nvPicPr>
          <p:cNvPr descr="give that image in horizontalmanner"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450" y="1195750"/>
            <a:ext cx="4736850" cy="535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300" y="1195751"/>
            <a:ext cx="2614600" cy="13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97973" y="1491029"/>
            <a:ext cx="2125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1. Input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48575" y="1843454"/>
            <a:ext cx="2024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MNIST Dataset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Raw Images</a:t>
            </a:r>
            <a:endParaRPr/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250" y="2554576"/>
            <a:ext cx="2614625" cy="13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655185" y="2836117"/>
            <a:ext cx="2125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2. Processing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48537" y="3219004"/>
            <a:ext cx="20241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Normalization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Reshaping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One-Hot Encoding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250" y="3979776"/>
            <a:ext cx="2614600" cy="13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97973" y="4297904"/>
            <a:ext cx="2125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3. Modeling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48575" y="4616842"/>
            <a:ext cx="20241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Training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Evaluation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Export (.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joblib,.keras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475" y="5474802"/>
            <a:ext cx="2614600" cy="107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98022" y="5593104"/>
            <a:ext cx="21252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4. Deployment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48587" y="5944842"/>
            <a:ext cx="20241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Flask Backend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Web Frontend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User Prediction</a:t>
            </a:r>
            <a:endParaRPr/>
          </a:p>
        </p:txBody>
      </p:sp>
      <p:pic>
        <p:nvPicPr>
          <p:cNvPr descr="create a slide with name Tech Stack , without using any image back ground , same as the present slide, : Programming &amp; Frameworks&#10;&#10;Python&#10;&#10;TensorFlow / Keras&#10;&#10;Scikit-Learn&#10;&#10;NumPy &amp; Pandas&#10;&#10;Model Development&#10;&#10;CNN, LeNet&#10;&#10;SVM, KNN, Logistic Regression, Random Forest&#10;&#10;Matplotlib / Seaborn (visualization)&#10;&#10;Deployment &amp; Backend&#10;&#10;Flask (Web Framework)&#10;&#10;&#10;Joblib / Keras Model Files&#10;&#10;Environment &amp; Tools&#10;&#10;Google Colab (Training &amp; experimentation)&#10;&#10;GitHub , , a good and neat  " id="124" name="Google Shape;12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2700" y="1250325"/>
            <a:ext cx="4006900" cy="52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Dataset: MNIST</a:t>
            </a:r>
            <a:endParaRPr/>
          </a:p>
        </p:txBody>
      </p:sp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44700"/>
            <a:ext cx="5431625" cy="41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638175" y="2123275"/>
            <a:ext cx="5658000" cy="3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Properties</a:t>
            </a:r>
            <a:endParaRPr b="1" sz="21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160000"/>
              </a:lnSpc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Inter"/>
              <a:buChar char="●"/>
            </a:pPr>
            <a:r>
              <a:rPr b="1"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</a:t>
            </a:r>
            <a:r>
              <a:rPr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Modified National Institute of Standards and Technology</a:t>
            </a:r>
            <a:endParaRPr sz="2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Inter"/>
              <a:buChar char="●"/>
            </a:pPr>
            <a:r>
              <a:rPr b="1"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 Set:</a:t>
            </a:r>
            <a:r>
              <a:rPr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60,000 labeled images</a:t>
            </a:r>
            <a:endParaRPr sz="2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Inter"/>
              <a:buChar char="●"/>
            </a:pPr>
            <a:r>
              <a:rPr b="1"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Test Set:</a:t>
            </a:r>
            <a:r>
              <a:rPr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10,000 labeled images</a:t>
            </a:r>
            <a:endParaRPr sz="2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Inter"/>
              <a:buChar char="●"/>
            </a:pPr>
            <a:r>
              <a:rPr b="1"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Resolution:</a:t>
            </a:r>
            <a:r>
              <a:rPr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28 x 28 pixels</a:t>
            </a:r>
            <a:endParaRPr sz="2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Inter"/>
              <a:buChar char="●"/>
            </a:pPr>
            <a:r>
              <a:rPr b="1"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Format:</a:t>
            </a:r>
            <a:r>
              <a:rPr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Grayscale (0-255 intensity)</a:t>
            </a:r>
            <a:endParaRPr sz="2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2" name="Google Shape;132;p17" title="MNIST_dataset_examp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6175" y="1964525"/>
            <a:ext cx="5591024" cy="410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Preprocessing Steps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75363" y="1393800"/>
            <a:ext cx="979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4A3B8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Raw images must be transformed before feeding them into models.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771525" y="1215550"/>
            <a:ext cx="34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descr="remove the top heading and tag line'"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50" y="1215550"/>
            <a:ext cx="11381425" cy="50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1074125" y="1905000"/>
            <a:ext cx="93942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4A3B8"/>
                </a:solidFill>
                <a:highlight>
                  <a:srgbClr val="1E293B"/>
                </a:highlight>
                <a:latin typeface="Inter"/>
                <a:ea typeface="Inter"/>
                <a:cs typeface="Inter"/>
                <a:sym typeface="Inter"/>
              </a:rPr>
              <a:t>Raw images must be transformed before feeding them into models.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Models Implemented</a:t>
            </a:r>
            <a:endParaRPr/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5" y="1994025"/>
            <a:ext cx="10942349" cy="413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7619975" y="4064950"/>
            <a:ext cx="840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88888"/>
                </a:solidFill>
                <a:highlight>
                  <a:srgbClr val="1E293B"/>
                </a:highlight>
                <a:latin typeface="Calibri"/>
                <a:ea typeface="Calibri"/>
                <a:cs typeface="Calibri"/>
                <a:sym typeface="Calibri"/>
              </a:rPr>
              <a:t>250</a:t>
            </a:r>
            <a:endParaRPr sz="2000">
              <a:solidFill>
                <a:srgbClr val="888888"/>
              </a:solidFill>
              <a:highlight>
                <a:srgbClr val="1E293B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SVM: How It Works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448150" y="1470600"/>
            <a:ext cx="68169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Finds the optimal hyperplane that separates digit classes with maximum margin.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 support vectors to define the most critical decision boundaries.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Classifies samples based on their distance from the separating hyperplane.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771525" y="3933248"/>
            <a:ext cx="11581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Why SVM?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448150" y="4357700"/>
            <a:ext cx="68169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Effective in high-dimensional spaces (like flattened 784-pixel vectors).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 the </a:t>
            </a:r>
            <a:r>
              <a:rPr b="1"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RBF Kernel</a:t>
            </a: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handle non-linear relationships between pixclassesel intensities and digit 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Achieves strong accuracy on medium-sized datasets like MNIST.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050" y="1867650"/>
            <a:ext cx="4613175" cy="409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CNN Architecture (Simple)</a:t>
            </a:r>
            <a:endParaRPr/>
          </a:p>
        </p:txBody>
      </p:sp>
      <p:pic>
        <p:nvPicPr>
          <p:cNvPr descr="image.png"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27550"/>
            <a:ext cx="5229225" cy="41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876312" y="2033125"/>
            <a:ext cx="48705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Structure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1066800" y="2480800"/>
            <a:ext cx="4448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Conv2D: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Feature extraction (edges, curves).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1066812" y="3229186"/>
            <a:ext cx="4448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ReLU: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Activation function.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1066812" y="3449373"/>
            <a:ext cx="4448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MaxPooling: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Reduces dimensionality.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971600" y="4111085"/>
            <a:ext cx="4448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Flatten: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Converts 2D maps to 1D vector.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876300" y="4684074"/>
            <a:ext cx="4448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Dense: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Final classification.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771537" y="5257083"/>
            <a:ext cx="4448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Softmax: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Output probability distribution.</a:t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325" y="2027550"/>
            <a:ext cx="6076951" cy="41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038" y="1957425"/>
            <a:ext cx="5391225" cy="42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328171"/>
            <a:ext cx="11029950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/>
          <p:nvPr/>
        </p:nvSpPr>
        <p:spPr>
          <a:xfrm>
            <a:off x="1609725" y="510778"/>
            <a:ext cx="962120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LeNet-5 Architecture</a:t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1419225" y="1406125"/>
            <a:ext cx="9621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pioneering CNN designed by Yann LeCun specifically for handwritten character recognition.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1419225" y="1890414"/>
            <a:ext cx="98212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Layers Config: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1704975" y="2366664"/>
            <a:ext cx="906780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C1: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Convolution (6 filters, 5x5)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1704975" y="2850951"/>
            <a:ext cx="906780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S2: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Average Pooling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1704975" y="3335238"/>
            <a:ext cx="906780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C3: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Convolution (16 filters)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1704975" y="3819525"/>
            <a:ext cx="906780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S4: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Average Pooling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1704975" y="4303811"/>
            <a:ext cx="906780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C5: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Fully Connected (120 nodes)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1704975" y="4788098"/>
            <a:ext cx="906780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F6: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Fully Connected (84 nodes)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1704975" y="5272385"/>
            <a:ext cx="9067800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10 Classes (0-9)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1419225" y="2319039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419225" y="2803326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419225" y="3287613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1419225" y="3771900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1419225" y="4256186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1419225" y="4740473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1419225" y="5224760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7600" y="2223800"/>
            <a:ext cx="6841375" cy="33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5167600" y="5756685"/>
            <a:ext cx="90678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9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 : Geeks For Geeks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Model Comparison Results</a:t>
            </a:r>
            <a:endParaRPr/>
          </a:p>
        </p:txBody>
      </p:sp>
      <p:pic>
        <p:nvPicPr>
          <p:cNvPr descr="modify for the logistic regreassion , and place the position of it under Random Forest, training time : Fast , Pros:Lightweight , Cons : Low accuracy" id="202" name="Google Shape;2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550" y="1269975"/>
            <a:ext cx="9844000" cy="55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25" y="1320475"/>
            <a:ext cx="10941250" cy="49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Why CNN Performs Better?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756750" y="1554775"/>
            <a:ext cx="10659000" cy="4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Extraction:</a:t>
            </a:r>
            <a:endParaRPr sz="16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Unlike SVM/KNN which treat pixels as a flat list, CNNs automatically learn filters to detect spatial features like loops, lines, and curves.</a:t>
            </a:r>
            <a:endParaRPr sz="1600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Spatial Invariance:</a:t>
            </a:r>
            <a:endParaRPr sz="16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CNNs recognize digits even when shifted, rotated, or slightly distorted due to convolution and pooling operations.</a:t>
            </a:r>
            <a:endParaRPr sz="1600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Hierarchical Learning:</a:t>
            </a:r>
            <a:endParaRPr sz="16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Lower layers capture edges, while deeper layers learn complex digit shapes, improving accuracy on handwritten inputs.</a:t>
            </a:r>
            <a:endParaRPr sz="1600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Reduced Manual Effort:</a:t>
            </a:r>
            <a:endParaRPr sz="16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need for handcrafted features; CNNs learn patterns directly from raw pixel data.</a:t>
            </a:r>
            <a:endParaRPr sz="1600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1375"/>
            <a:ext cx="12191400" cy="68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28800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828800"/>
            <a:ext cx="5372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Application Interface</a:t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8219836" y="2731889"/>
            <a:ext cx="141017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Key Features</a:t>
            </a:r>
            <a:endParaRPr/>
          </a:p>
        </p:txBody>
      </p:sp>
      <p:sp>
        <p:nvSpPr>
          <p:cNvPr id="223" name="Google Shape;223;p26"/>
          <p:cNvSpPr txBox="1"/>
          <p:nvPr/>
        </p:nvSpPr>
        <p:spPr>
          <a:xfrm>
            <a:off x="7624762" y="3274814"/>
            <a:ext cx="2886075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drawing canvas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7624762" y="3759100"/>
            <a:ext cx="2886075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Image file upload support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7624762" y="4243387"/>
            <a:ext cx="2886075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Instant prediction display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7624762" y="4727674"/>
            <a:ext cx="2886075" cy="341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Confidence probability score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7339012" y="3227189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7339012" y="3711475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7339012" y="4195762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0" name="Google Shape;230;p26"/>
          <p:cNvSpPr txBox="1"/>
          <p:nvPr/>
        </p:nvSpPr>
        <p:spPr>
          <a:xfrm>
            <a:off x="7339012" y="4680049"/>
            <a:ext cx="17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231" name="Google Shape;23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25" y="1828800"/>
            <a:ext cx="5372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6"/>
          <p:cNvSpPr txBox="1"/>
          <p:nvPr/>
        </p:nvSpPr>
        <p:spPr>
          <a:xfrm flipH="1">
            <a:off x="7339010" y="5447600"/>
            <a:ext cx="6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7624800" y="5558599"/>
            <a:ext cx="2886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9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Clean and Simple UI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Results</a:t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771537" y="1476386"/>
            <a:ext cx="6250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50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Achievements</a:t>
            </a:r>
            <a:endParaRPr sz="215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1057287" y="1952636"/>
            <a:ext cx="566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i="0" lang="en-US" sz="17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Successfully built full ML pipeline from scratch.</a:t>
            </a:r>
            <a:endParaRPr sz="17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1057287" y="2436923"/>
            <a:ext cx="566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i="0" lang="en-US" sz="17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Web app makes predictions in &lt; 200ms.</a:t>
            </a:r>
            <a:endParaRPr sz="17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1057287" y="2921210"/>
            <a:ext cx="566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i="0" lang="en-US" sz="17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Robust performance on user-drawn digits.</a:t>
            </a:r>
            <a:endParaRPr sz="17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1057276" y="3405500"/>
            <a:ext cx="5014800" cy="15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i="0" lang="en-US" sz="17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Seamless integration of Information Retrieval techniques.</a:t>
            </a:r>
            <a:endParaRPr i="0" sz="1700" u="none" cap="none" strike="noStrike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6550" lvl="0" marL="45720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End-to-end system demonstration of deep learning in digit recognition.</a:t>
            </a:r>
            <a:endParaRPr sz="17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6724575" y="1476375"/>
            <a:ext cx="5119800" cy="3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Performance Highlights</a:t>
            </a:r>
            <a:endParaRPr sz="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99% Test Accuracy achieved using the LeNet-5 CNN model.</a:t>
            </a:r>
            <a:b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7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Outperforms classical ML models like SVM, KNN, Logistic Regression, and Random Forest.</a:t>
            </a:r>
            <a:b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7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Stable training curves with minimal overfitting.</a:t>
            </a:r>
            <a:b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7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Inter Medium"/>
              <a:buChar char="●"/>
            </a:pPr>
            <a:r>
              <a:rPr lang="en-US" sz="17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High confidence predictions due to hierarchical feature learning.</a:t>
            </a:r>
            <a:endParaRPr sz="17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08375"/>
            <a:ext cx="11029950" cy="355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9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251" name="Google Shape;251;p28"/>
          <p:cNvSpPr txBox="1"/>
          <p:nvPr/>
        </p:nvSpPr>
        <p:spPr>
          <a:xfrm>
            <a:off x="1200150" y="2134201"/>
            <a:ext cx="101157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End-to-End Solution 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79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Developed a complete pipeline covering preprocessing, model training, evaluation, and deployment.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1200225" y="2932063"/>
            <a:ext cx="10115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Performance: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Proved that Deep Learning (CNNs) vastly outperforms Classical ML for vision tasks.</a:t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1200225" y="3605650"/>
            <a:ext cx="10115700" cy="19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Application: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Delivered a functional, interactive product, not just a notebook.</a:t>
            </a:r>
            <a:endParaRPr b="0" i="0" sz="1679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Accuracy &amp; Real-Time Performance </a:t>
            </a:r>
            <a:r>
              <a:rPr lang="en-US" sz="165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: Achieved 99% test accuracy with LeNet-5 and real-time predictions through the Flask web app.</a:t>
            </a:r>
            <a:endParaRPr sz="165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60095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79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9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1200138" y="4838811"/>
            <a:ext cx="10115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Skills:</a:t>
            </a:r>
            <a:r>
              <a:rPr b="0" i="0" lang="en-US" sz="1679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Integrated Python, TensorFlow, and Web Development.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59" name="Google Shape;2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8750"/>
            <a:ext cx="12191409" cy="712409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9"/>
          <p:cNvSpPr txBox="1"/>
          <p:nvPr/>
        </p:nvSpPr>
        <p:spPr>
          <a:xfrm>
            <a:off x="2857500" y="3092675"/>
            <a:ext cx="2278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888888"/>
                </a:solidFill>
                <a:highlight>
                  <a:srgbClr val="252E3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Ask here!</a:t>
            </a:r>
            <a:endParaRPr b="1" sz="3200">
              <a:solidFill>
                <a:srgbClr val="888888"/>
              </a:solidFill>
              <a:highlight>
                <a:srgbClr val="252E3F"/>
              </a:highlight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6745200" y="3092675"/>
            <a:ext cx="29106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rgbClr val="888888"/>
                </a:solidFill>
                <a:highlight>
                  <a:srgbClr val="252E3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Project Repo</a:t>
            </a:r>
            <a:endParaRPr b="1" sz="3200">
              <a:solidFill>
                <a:srgbClr val="888888"/>
              </a:solidFill>
              <a:highlight>
                <a:srgbClr val="252E3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